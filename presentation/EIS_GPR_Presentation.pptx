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Battery Degradation Prediction via</a:t>
            </a:r>
            <a:br/>
            <a:r>
              <a:t>Gaussian Process Regression on EIS Spectra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017520"/>
            <a:ext cx="484632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Reproduction &amp; Extension of Zhang et al., Nature Communications 2020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096D6"/>
                </a:solidFill>
                <a:latin typeface="Calibri"/>
              </a:defRPr>
            </a:pPr>
            <a:r>
              <a:t>DOI: 10.1038/s41467-020-15235-7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Research Group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Background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6400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Lithium-ion battery degradation monitoring is critical for EV and grid storage safety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Electrochemical Impedance Spectroscopy (EIS) captures degradation signatures non-destructively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Zhang et al. (2020): GPR on raw EIS spectra predicts capacity (SOH) and RUL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No feature engineering needed -- ARD discovers informative frequencies automatically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Key insight: Feature #91 (17.80 Hz, Im(Z)) is the universal degradation indicator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CCCCCC"/>
                </a:solidFill>
                <a:latin typeface="Calibri"/>
              </a:defRPr>
            </a:pPr>
            <a:r>
              <a:t>Our contributions: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1. Full reproduction of Zhang et al. (Figs 1-4) -- matched or beat all targets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2. Extension to in-house datasets (A1-A8, CA1-CA8) with LOOCV validation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3. Multi-temperature analysis (-10C, -20C) revealing physics-dependent RUL limits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4. Coupled ARD kernel -- physically correct (Kramers-Kronig) importance scoring</a:t>
            </a:r>
          </a:p>
          <a:p>
            <a:pPr>
              <a:spcAft>
                <a:spcPts val="6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  5. Capacity-derived RUL -- novel approach that avoids EIS-&gt;RUL mapping failures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Method: GPR on Raw EIS Spectra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Input: Raw EIS spectrum [Re(Z), Im(Z)] at each measured frequency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Cambridge dataset: 60 frequencies x 2 = 120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In-house datasets: 33 frequencies x 2 = 66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Model: Gaussian Process Regression (GPR)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Capacity: RBF kernel (fixed length-scale l=30 for LOOCV) or ARD-RBF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RUL: Linear kernel (DotProduct, Zhang eq. 5)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Noise: WhiteKernel (Gaussian likelihood)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ARD (Automatic Relevance Determination):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One length-scale per feature; weight w_m = exp(-sigma_m), normalised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Identifies which EIS frequencies carry degradation information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Normalisation: z-score (training stats applied to test set)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LOOCV capacity: joint norm (train+test pooled) removes cell offset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-- LOOCV RUL: training-only norm (paper's stated approach)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Datasets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Cycles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EOL cells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Cambridge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Zhang et al. (public)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25C01-08, 35C01-02, 45C01-02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120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25/35/45C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~275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All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A1-A8 (partial)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In-house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A1-A8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RT (~25C)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~268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6 (A3,A6 DNF)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CA1-CA8 (complete)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In-house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CA1-CA8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RT (~25C)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470+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7 (CA6 DNF)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CB multi-temp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In-house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N10_CB1-4, N20_CB1-4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-10C, -20C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71-114 / 17-21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All 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EIS state: post-charge (State V analogue) -- consistent across all datasets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A1-A8 partial = first ~268 cycles; CA1-CA8 = same cells run to completion (470+ cycles)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DNF cells: A3 (anomalously low initial cap 3800 vs 4050 mAh), A6/CA6 (never reached 80%)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CB cells: Molicell 21700 P42A NMC; -20C cells have very short lives (17-21 cycles)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EOL definition: first cycle where capacity &lt; 80% of initial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1: Paper Reproduction --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Figure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Fig 1a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Single-T 25C capacity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0.882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0.88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Matched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Fig 3a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Multi-T 35C capacity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0.81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Beat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Fig 3b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Multi-T 45C capacity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0.72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Beat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3a_capacity_35C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3314700"/>
          </a:xfrm>
          <a:prstGeom prst="rect">
            <a:avLst/>
          </a:prstGeom>
        </p:spPr>
      </p:pic>
      <p:pic>
        <p:nvPicPr>
          <p:cNvPr id="6" name="Picture 5" descr="fig3b_capacity_45C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303520" cy="331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Multi-temperature training enables strong generalisation.</a:t>
            </a:r>
            <a:br/>
            <a:br/>
            <a:r>
              <a:t>Training on 25/35/45C cells, testing on held-out cells at each</a:t>
            </a:r>
            <a:br/>
            <a:r>
              <a:t>temperature. Our reproduction matches or exceeds all paper targets.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1: Paper Reproduction -- RUL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Figure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Our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Paper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Fig 4a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Multi-T 25C RUL (25C05)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Beat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Fig 4b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Multi-T 35C RUL (35C02)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0.75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Beat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Fig 4c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Multi-T 45C RUL (45C02)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Matched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4b_rul_35C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97280"/>
            <a:ext cx="5303520" cy="4545874"/>
          </a:xfrm>
          <a:prstGeom prst="rect">
            <a:avLst/>
          </a:prstGeom>
        </p:spPr>
      </p:pic>
      <p:pic>
        <p:nvPicPr>
          <p:cNvPr id="6" name="Picture 5" descr="fig4a_rul_25C05_mult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57600"/>
            <a:ext cx="5303520" cy="45458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47472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RUL prediction works in multi-temperature DOE because</a:t>
            </a:r>
            <a:br/>
            <a:r>
              <a:t>temperature variation creates a learnable link between</a:t>
            </a:r>
            <a:br/>
            <a:r>
              <a:t>EIS signature and remaining life (Arrhenius relationship).</a:t>
            </a:r>
            <a:br/>
            <a:br/>
            <a:r>
              <a:t>Linear kernel (DotProduct) used for RUL -- Zhang eq. 5.</a:t>
            </a:r>
            <a:br/>
            <a:r>
              <a:t>Training-only z-score normalisation.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1: ARD Weight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1c_ARD_weights_2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5669280" cy="3149600"/>
          </a:xfrm>
          <a:prstGeom prst="rect">
            <a:avLst/>
          </a:prstGeom>
        </p:spPr>
      </p:pic>
      <p:pic>
        <p:nvPicPr>
          <p:cNvPr id="5" name="Picture 4" descr="fig3c_ARD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669280" cy="314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25C ARD (Fig 1c): #91 + #100 in top-5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35C ARD (Fig 3c): #91 dominant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Feature #91 = 17.80 Hz Im(Z) -- universal degradation indicator across all temperatures.</a:t>
            </a:r>
            <a:br/>
            <a:r>
              <a:t>Feature #100 = 2.16 Hz -- appears at 25C only; multi-T training strips it out,</a:t>
            </a:r>
            <a:br/>
            <a:r>
              <a:t>isolating the temperature-independent signal at 17.80 Hz.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3: A1-A8 LOOCV --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A3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A4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A5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A6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A7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A8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0.983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0.967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0.959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0.867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0.964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0.964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cap_loo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86000"/>
            <a:ext cx="5669280" cy="2480310"/>
          </a:xfrm>
          <a:prstGeom prst="rect">
            <a:avLst/>
          </a:prstGeom>
        </p:spPr>
      </p:pic>
      <p:pic>
        <p:nvPicPr>
          <p:cNvPr id="6" name="Picture 5" descr="fig_ARD_loocv_fol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86000"/>
            <a:ext cx="5669280" cy="1889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Joint normalisation (train+test pooled per fold) removes cell-to-cell impedance offset.</a:t>
            </a:r>
            <a:br/>
            <a:r>
              <a:t>Strong generalisation across all 8 cells including both DNF cells (A3, A6). Fixed RBF l=30.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3: A1-A8 LOOCV -- RUL (Failure Analysis)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7772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  <a:gridCol w="97155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A1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A2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A4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A5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A7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A8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Linear R²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-0.52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-0.56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-0.00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-0.38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0.17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-0.68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RBF R²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-0.57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-0.68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-2.09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-5.27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-0.09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-1.24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926080"/>
          <a:ext cx="5029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Band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 range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RUL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Full spectrum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1-10,000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0.964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-0.33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500-10,000 Hz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0.905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-2.15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Mid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10-500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0.867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-1.79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1-10 Hz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0.872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-2.07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rul_loo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60320"/>
            <a:ext cx="54864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3035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Direct EIS -&gt; RUL fails for same-temperature cells.</a:t>
            </a:r>
            <a:br/>
            <a:r>
              <a:t>RUL fails equally across all frequency bands -- not a spectral coverage problem.</a:t>
            </a:r>
            <a:br/>
            <a:r>
              <a:t>Root cause: cells with identical EIS can have different total lifetimes (2.4x spread).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4: CA1-CA8 Complete Lifecycle -- Capacity LOOCV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109728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CA1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CA2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CA3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CA4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CA5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CA6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CA7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CA8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0.971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0.562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0.982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0.934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77440"/>
          <a:ext cx="10972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CA1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CA2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CA3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CA4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CA5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CA7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CA8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Linear R²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0.141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0.154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0.053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-0.324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0.010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-1.169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-0.095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-0.176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474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Capacity: excellent (mean R²=0.934)</a:t>
            </a:r>
            <a:br/>
            <a:r>
              <a:t>Direct RUL: fails again (mean R²=-0.176)</a:t>
            </a:r>
            <a:br/>
            <a:br/>
            <a:r>
              <a:t>Same conclusion as A1-A8: EIS encodes current</a:t>
            </a:r>
            <a:br/>
            <a:r>
              <a:t>health, not total lifespan.</a:t>
            </a:r>
          </a:p>
        </p:txBody>
      </p:sp>
      <p:pic>
        <p:nvPicPr>
          <p:cNvPr id="7" name="Picture 6" descr="fig_rul_loocv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3200400"/>
            <a:ext cx="54864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Why Direct EIS -&gt; RUL Fails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Case 1: Same-Temperature (A1-A8, CA1-CA8)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All cells: same temperature, C-rate, conditions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Total lifetimes: 190-448 cycles (2.4x range)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Two cells at identical SOH can have completely different remaining lives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EIS encodes current health, not intrinsic total lifespan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For RUL to work: need diverse lifetimes driven by distinguishable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Case 2: Cold Temperatures (-20C CB)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Data problem: RUL_max = 17-21 cycles vs RT 200+ (out of distribution)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Physics problem (fundamental):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Warm: higher T -&gt; faster SEI growth -&gt; shorter life AND larger Im(Z)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  -&gt; EIS encodes both current state and future rate -&gt; RUL learnable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Cold: lower T -&gt; high Re(Z) from kinetic limitation, not irreversible damage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  -&gt; capacity loss is thermally reversible (warm cell -&gt; capacity recovers)</a:t>
            </a:r>
          </a:p>
          <a:p>
            <a:pPr>
              <a:spcAft>
                <a:spcPts val="6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    -&gt; EIS encodes thermal kinetics, not degradation rate -&gt; RUL signal absent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54F"/>
                </a:solidFill>
                <a:latin typeface="Calibri"/>
              </a:defRPr>
            </a:pPr>
            <a:r>
              <a:t>Key Distinction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Capacity = snapshot: 'how much charge can this cell deliver now?' -- EIS -&gt; SOH works regardless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RUL = forecast: 'how fast will degradation continue?' -- requires knowing mechanism (reversible vs irreversible)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EIS alone cannot distinguish thermal kinetics from electrochemical degradation -&gt; RUL breaks at -20C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Solution: Capacity-Derived RUL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Predict full capacity trajectory via LOOCV GPR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Fit linear trend to predicted trajectory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Extrapolate to 80% threshold -&gt; predicted EOL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4. RUL[i] = predicted_EOL - i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74320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  <a:gridCol w="11684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CA1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CA2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CA3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CA4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CA5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CA7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CA8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Cap R²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0.987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0.971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0.982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0.934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RUL R²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0.767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0.550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0.973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0.967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0.893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Pred EOL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182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115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212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Actual EOL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174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168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214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143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116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224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rt_cap_rul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846320"/>
            <a:ext cx="5029200" cy="718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029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Cap-derived RUL (mean R²=0.893) dramatically outperforms</a:t>
            </a:r>
            <a:br/>
            <a:r>
              <a:t>direct EIS-&gt;RUL (mean R²=-0.176).</a:t>
            </a:r>
            <a:br/>
            <a:br/>
            <a:r>
              <a:t>Avoids the EIS-&gt;RUL mapping problem entirely by leveraging</a:t>
            </a:r>
            <a:br/>
            <a:r>
              <a:t>the strong capacity prediction model.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5: Multi-Temperature Zhang DOE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CA1-CA8 (RT) + N10_CB1-3 (-10C) + N20_CB1-3 (-20C)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N10_CB4 (-10C held-out) + N20_CB4 (-20C held-out)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560320"/>
          <a:ext cx="4572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N10_CB4 (-10C)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0.375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Capacity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N20_CB4 (-20C)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0.949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RUL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N10_CB4 (-10C)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0.226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RUL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N20_CB4 (-20C)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-120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fig_zhang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286000"/>
            <a:ext cx="5760720" cy="28803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846320"/>
          <a:ext cx="5029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Cap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 RUL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Baseline (train RT+-10C only)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-8.7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-6499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Zhang DOE (all temps in training)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0.949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-120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-20C RUL fails: 17-21 cycle life vs RT 200+ -- scale mismatch. Coupled ARD: 1.33 Hz dominant (w=0.71).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6: Single-T Capacity (Zhang Fig 1 Equivalent)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97280"/>
          <a:ext cx="6400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Capacity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RT (~25C)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CA1-CA6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CA7, CA8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0.996 / 0.991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-10C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N10_CB1-3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N10_CB4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0.676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-20C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N20_CB1-3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N20_CB4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0.937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rt_1a_capacity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017520"/>
            <a:ext cx="3840480" cy="1600200"/>
          </a:xfrm>
          <a:prstGeom prst="rect">
            <a:avLst/>
          </a:prstGeom>
        </p:spPr>
      </p:pic>
      <p:pic>
        <p:nvPicPr>
          <p:cNvPr id="6" name="Picture 5" descr="fig_n10_1a_capacity_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017520"/>
            <a:ext cx="3840480" cy="3200400"/>
          </a:xfrm>
          <a:prstGeom prst="rect">
            <a:avLst/>
          </a:prstGeom>
        </p:spPr>
      </p:pic>
      <p:pic>
        <p:nvPicPr>
          <p:cNvPr id="7" name="Picture 6" descr="fig_n20_1a_capacity_trajecto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017520"/>
            <a:ext cx="384048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035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RT: R² = 0.996, 0.991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035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D54F"/>
                </a:solidFill>
                <a:latin typeface="Calibri"/>
              </a:defRPr>
            </a:pPr>
            <a:r>
              <a:t>-10C: R² = 0.676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6035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4CAF50"/>
                </a:solidFill>
                <a:latin typeface="Calibri"/>
              </a:defRPr>
            </a:pPr>
            <a:r>
              <a:t>-20C: R² = 0.937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Exp 6: Coupled ARD Weights per Temperature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rt_1c_ARD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3840480" cy="1396538"/>
          </a:xfrm>
          <a:prstGeom prst="rect">
            <a:avLst/>
          </a:prstGeom>
        </p:spPr>
      </p:pic>
      <p:pic>
        <p:nvPicPr>
          <p:cNvPr id="5" name="Picture 4" descr="fig_n10_1c_ARD_weigh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3840480" cy="1396538"/>
          </a:xfrm>
          <a:prstGeom prst="rect">
            <a:avLst/>
          </a:prstGeom>
        </p:spPr>
      </p:pic>
      <p:pic>
        <p:nvPicPr>
          <p:cNvPr id="6" name="Picture 5" descr="fig_n20_1c_ARD_weigh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097280"/>
            <a:ext cx="3840480" cy="13965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RT: ~1 Hz + ~5000 Hz (dual peak)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96D6"/>
                </a:solidFill>
                <a:latin typeface="Calibri"/>
              </a:defRPr>
            </a:pPr>
            <a:r>
              <a:t>-10C: 13.3 Hz (w=1.0) single spike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114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-20C: ~1 Hz + ~5000 Hz (dual peak)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4663440"/>
          <a:ext cx="109728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Frequency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Weight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RT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~1 Hz + ~5000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dual peak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Low-freq SEI + high-freq bulk resistance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-10C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13.3 Hz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Single spike -- pure SEI/charge-transfer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-20C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~1 Hz + ~5000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dual peak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Similar to RT -- kinetically limited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RUL Strategy Depends on Temperature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188720"/>
          <a:ext cx="91440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Cap-derived RUL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Direct EIS-&gt;RUL R²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Approach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RT (25C)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0.893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-4.3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Cap-derived (LOOCV)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-10C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-0.82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0.734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Direct (linear kernel)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-20C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0.970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0.459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Cap-derived (DOE)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fig_rt_cap_rul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00400"/>
            <a:ext cx="3840480" cy="1706880"/>
          </a:xfrm>
          <a:prstGeom prst="rect">
            <a:avLst/>
          </a:prstGeom>
        </p:spPr>
      </p:pic>
      <p:pic>
        <p:nvPicPr>
          <p:cNvPr id="6" name="Picture 5" descr="fig_n10_cap_rul_trajecto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3200400"/>
            <a:ext cx="3840480" cy="3200400"/>
          </a:xfrm>
          <a:prstGeom prst="rect">
            <a:avLst/>
          </a:prstGeom>
        </p:spPr>
      </p:pic>
      <p:pic>
        <p:nvPicPr>
          <p:cNvPr id="7" name="Picture 6" descr="fig_n20_cap_rul_trajectori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3200400"/>
            <a:ext cx="384048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D54F"/>
                </a:solidFill>
                <a:latin typeface="Calibri"/>
              </a:defRPr>
            </a:pPr>
            <a:r>
              <a:t>No single method works at all temperatures -- optimal strategy depends on degradation regime.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Key Finding: Universal Degradation Indicator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39188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Kernel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Top Feature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Frequency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Interpretation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35C (Fig 3c)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Decoupled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#91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17.80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Exact match with paper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25C (Fig 1c)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Decoupled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#91, #100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17.80 + 2.16 Hz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 region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45C (Fig 3d)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Decoupled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#88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~20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Same low-freq Im(Z) region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A1-A8 LOOCV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Decoupled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low-freq Im(Z)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~1-20 Hz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Consistent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CB multi-T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Coupled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1.33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w=0.71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SEI/diffusion + bulk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9189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-10C single-T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Coupled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13.3 Hz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w=1.0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Pure SEI/charge-transfer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1148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Feature #91 (17.80 Hz, Im(Z)) is the universal degradation indicator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Consistent across Cambridge, in-house, and multi-temperature datasets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Multi-T training acts as a regulariser, stripping out temperature-dependent features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Coupled ARD (33 ls, Re+Im paired) gives physically interpretable weights (Kramers-Kronig)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-10C shows unique single-frequency dominance at 13.3 Hz -- pure charge-transfer signal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Coupled vs Decoupled 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ARD_coupled_vs_decoup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943600" cy="1981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Standard ARD: 66 independent length-scales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-- Re(Z) and Im(Z) treated as separate features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-- Ambiguous importance: Re and Im at same freq get different weights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Coupled ARD: 33 length-scales (one per frequency)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-- Re(Z) and Im(Z) share the same length-scale per frequency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-- Physically motivated: Kramers-Kronig relations couple Re and Im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-- Gives cleaner, more interpretable importance scores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Result: comparable LOOCV accuracy with half the parameters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-- Decoupled: 66 ls -&gt; noisy attribution</a:t>
            </a:r>
          </a:p>
          <a:p>
            <a:pPr>
              <a:spcAft>
                <a:spcPts val="6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  -- Coupled: 33 ls -&gt; clear frequency ranking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Summary &amp;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3657600" cy="381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3860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006E9F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Paper reproduction (capacity)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R² = 0.88-0.94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Matched or beat all targets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Paper reproduction (RUL)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R² = 0.85-0.97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Beat all multi-T targets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A1-A8 Capacity LOOCV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mean R² = 0.964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Strong generalisation, 8 cells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CA1-CA8 Capacity LOOCV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mean R² = 0.934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Complete lifecycle, 470+ cycles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RT Cap-derived RUL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mean R² = 0.893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Best RT approach (7 EOL cells)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-20C Cap-derived RUL (DOE)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R² = 0.970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Pred EOL=16.1 vs actual 17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-10C Direct RUL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R² = 0.734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Single dominant freq at 13.3 Hz</a:t>
                      </a:r>
                    </a:p>
                  </a:txBody>
                  <a:tcPr anchor="ctr">
                    <a:solidFill>
                      <a:srgbClr val="2A2A45"/>
                    </a:solidFill>
                  </a:tcPr>
                </a:tc>
              </a:tr>
              <a:tr h="3860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Single-T Capacity (RT)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R² = 0.996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Beats Zhang's 0.88</a:t>
                      </a:r>
                    </a:p>
                  </a:txBody>
                  <a:tcPr anchor="ctr">
                    <a:solidFill>
                      <a:srgbClr val="22223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GPR on raw EIS spectra is a powerful, feature-engineering-free approach to battery SOH prediction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Capacity prediction is robust across datasets, temperatures, and validation strategies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Direct EIS-&gt;RUL fails for same-temperature cells; cap-derived RUL is the practical solution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No single RUL method works at all temperatures -- strategy depends on degradation physics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Coupled ARD provides physically interpretable frequency importance (Kramers-Kronig correct)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17.80 Hz Im(Z) is the universal degradation indicator across all conditions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